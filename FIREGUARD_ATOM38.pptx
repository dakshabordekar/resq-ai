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645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HACKTRONICS 2ND EDITION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280160" cy="2011680"/>
          </a:xfrm>
          <a:prstGeom prst="rect">
            <a:avLst>
              <a:gd name="adj" fmla="val 3571"/>
            </a:avLst>
          </a:prstGeom>
          <a:solidFill>
            <a:srgbClr val="D5E8F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868680"/>
            <a:ext cx="1133856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3127248"/>
            <a:ext cx="0" cy="18288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3127248"/>
            <a:ext cx="0" cy="18288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3127248"/>
            <a:ext cx="0" cy="18288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" y="502920"/>
            <a:ext cx="2048256" cy="4169664"/>
          </a:xfrm>
          <a:prstGeom prst="ellipse">
            <a:avLst/>
          </a:prstGeom>
          <a:solidFill>
            <a:srgbClr val="FADBD8">
              <a:alpha val="40000"/>
            </a:srgbClr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749808"/>
            <a:ext cx="1682496" cy="3675888"/>
          </a:xfrm>
          <a:prstGeom prst="ellipse">
            <a:avLst/>
          </a:prstGeom>
          <a:solidFill>
            <a:srgbClr val="FAD7A0">
              <a:alpha val="40000"/>
            </a:srgbClr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969264"/>
            <a:ext cx="1353312" cy="3236976"/>
          </a:xfrm>
          <a:prstGeom prst="ellipse">
            <a:avLst/>
          </a:prstGeom>
          <a:solidFill>
            <a:srgbClr val="A9DFBF">
              <a:alpha val="40000"/>
            </a:srgbClr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20240" y="77724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FIREGUARD</a:t>
            </a:r>
            <a:endParaRPr lang="en-US" sz="72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12140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Threat-Zone Estimation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Industrial Fire &amp; Explosion Response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2980944"/>
            <a:ext cx="6858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20240" y="309067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ATOM  ·  TEAM NO. 38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49300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SANTHOSH V — 24BPS1112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373075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DAKSHA BORDEKAR — 24BRS1296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396849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PRANAV SHINDE — 24BAI1590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Fire Is Not a Circle."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685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APPROACH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0" y="1078992"/>
            <a:ext cx="822960" cy="1005840"/>
          </a:xfrm>
          <a:prstGeom prst="rect">
            <a:avLst>
              <a:gd name="adj" fmla="val 4444"/>
            </a:avLst>
          </a:prstGeom>
          <a:solidFill>
            <a:srgbClr val="D5E8F7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7904" y="914400"/>
            <a:ext cx="713232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11155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841248"/>
            <a:ext cx="2834640" cy="2377440"/>
          </a:xfrm>
          <a:prstGeom prst="ellipse">
            <a:avLst/>
          </a:prstGeom>
          <a:solidFill>
            <a:srgbClr val="FADBD8">
              <a:alpha val="45000"/>
            </a:srgbClr>
          </a:solidFill>
          <a:ln w="19050">
            <a:solidFill>
              <a:srgbClr val="C0392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32004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⭕  Fixed Radius Circle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66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Source characteristics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581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Tank geometry &amp; volume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502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Thermal radiation physics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42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Blast overpressure model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3342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Wind conditions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262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Spatial variation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685800"/>
            <a:ext cx="0" cy="411480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685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FIREGUARD APPROACH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1207008"/>
            <a:ext cx="822960" cy="960120"/>
          </a:xfrm>
          <a:prstGeom prst="rect">
            <a:avLst>
              <a:gd name="adj" fmla="val 4444"/>
            </a:avLst>
          </a:prstGeom>
          <a:solidFill>
            <a:srgbClr val="D5E8F7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5664" y="1042416"/>
            <a:ext cx="713232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804672"/>
            <a:ext cx="4023360" cy="2560320"/>
          </a:xfrm>
          <a:prstGeom prst="ellipse">
            <a:avLst/>
          </a:prstGeom>
          <a:solidFill>
            <a:srgbClr val="FADBD8">
              <a:alpha val="55000"/>
            </a:srgbClr>
          </a:solidFill>
          <a:ln w="6350">
            <a:solidFill>
              <a:srgbClr val="FADB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024128"/>
            <a:ext cx="3383280" cy="2103120"/>
          </a:xfrm>
          <a:prstGeom prst="ellipse">
            <a:avLst/>
          </a:prstGeom>
          <a:solidFill>
            <a:srgbClr val="FAD7A0">
              <a:alpha val="55000"/>
            </a:srgbClr>
          </a:solidFill>
          <a:ln w="6350">
            <a:solidFill>
              <a:srgbClr val="FAD7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1234440"/>
            <a:ext cx="2834640" cy="1691640"/>
          </a:xfrm>
          <a:prstGeom prst="ellipse">
            <a:avLst/>
          </a:prstGeom>
          <a:solidFill>
            <a:srgbClr val="A9DFBF">
              <a:alpha val="55000"/>
            </a:srgbClr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103120"/>
            <a:ext cx="731520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  <a:tailEnd type="arrow"/>
          </a:ln>
        </p:spPr>
      </p:sp>
      <p:sp>
        <p:nvSpPr>
          <p:cNvPr id="24" name="Text 22"/>
          <p:cNvSpPr txBox="1"/>
          <p:nvPr/>
        </p:nvSpPr>
        <p:spPr>
          <a:xfrm>
            <a:off x="4572000" y="21762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17720" y="3273552"/>
            <a:ext cx="164592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37176" y="32552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17720" y="3474720"/>
            <a:ext cx="164592" cy="146304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37176" y="34564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3675888"/>
            <a:ext cx="164592" cy="1463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37176" y="3657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3867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Physics-derived spatial hazard field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4187952"/>
            <a:ext cx="850392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1480" y="42245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challenge is not drawing a boundary. The challenge is computing where the consequence becomes dangerous."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Incident Parameters to a Spatial Consequence Field"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731520"/>
            <a:ext cx="2286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29000" y="731520"/>
            <a:ext cx="22860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885139"/>
            <a:ext cx="2286000" cy="120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· Tank Geometry · Volume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62856" y="1005840"/>
            <a:ext cx="0" cy="64008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429000" y="1069848"/>
            <a:ext cx="22860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069848"/>
            <a:ext cx="22860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223467"/>
            <a:ext cx="2286000" cy="120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Properties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62856" y="1344168"/>
            <a:ext cx="0" cy="64008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429000" y="1408176"/>
            <a:ext cx="2286000" cy="274320"/>
          </a:xfrm>
          <a:prstGeom prst="rect">
            <a:avLst/>
          </a:prstGeom>
          <a:solidFill>
            <a:srgbClr val="34495E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408176"/>
            <a:ext cx="22860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561795"/>
            <a:ext cx="2286000" cy="120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/ Explosion Conditions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62856" y="1682496"/>
            <a:ext cx="0" cy="64008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429000" y="1746504"/>
            <a:ext cx="2286000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1746504"/>
            <a:ext cx="22860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1900123"/>
            <a:ext cx="2286000" cy="120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Speed · Wind Direction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62856" y="2020824"/>
            <a:ext cx="0" cy="64008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429000" y="2084832"/>
            <a:ext cx="228600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2084832"/>
            <a:ext cx="22860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CHARACTERIZATION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2238451"/>
            <a:ext cx="2286000" cy="120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Release · Geometry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0" y="2423160"/>
            <a:ext cx="0" cy="146304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2569464"/>
            <a:ext cx="3657600" cy="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2569464"/>
            <a:ext cx="2423160" cy="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2569464"/>
            <a:ext cx="0" cy="128016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6995160" y="2569464"/>
            <a:ext cx="0" cy="128016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347472" y="2697480"/>
            <a:ext cx="1920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7472" y="2697480"/>
            <a:ext cx="1920240" cy="208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THERMAL RADIATION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47472" y="2892064"/>
            <a:ext cx="1920240" cy="15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B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source · View factor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5B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Radiative flux · Attenuation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76288" y="2697480"/>
            <a:ext cx="1920240" cy="347472"/>
          </a:xfrm>
          <a:prstGeom prst="rect">
            <a:avLst/>
          </a:prstGeom>
          <a:solidFill>
            <a:srgbClr val="884EA0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76288" y="2697480"/>
            <a:ext cx="1920240" cy="208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BLAST OVERPRESSURE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876288" y="2892064"/>
            <a:ext cx="1920240" cy="15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2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TNT-equiv. · Scaled distance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2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overpressure · Impulse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307592" y="3044952"/>
            <a:ext cx="0" cy="118872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36408" y="3044952"/>
            <a:ext cx="0" cy="118872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07592" y="3163824"/>
            <a:ext cx="3264408" cy="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3163824"/>
            <a:ext cx="3264408" cy="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62856" y="3163824"/>
            <a:ext cx="0" cy="9144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3429000" y="3255264"/>
            <a:ext cx="228600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29000" y="3255264"/>
            <a:ext cx="22860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CONSEQUENCE EVALUATION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3429000" y="3408883"/>
            <a:ext cx="2286000" cy="120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Max(thermal, blast) per grid point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62856" y="3529584"/>
            <a:ext cx="0" cy="64008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3429000" y="3593592"/>
            <a:ext cx="2286000" cy="274320"/>
          </a:xfrm>
          <a:prstGeom prst="rect">
            <a:avLst/>
          </a:prstGeom>
          <a:solidFill>
            <a:srgbClr val="196F3D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429000" y="3593592"/>
            <a:ext cx="22860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GRID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3429000" y="3747211"/>
            <a:ext cx="2286000" cy="120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evaluation over surrounding area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62856" y="3867912"/>
            <a:ext cx="0" cy="64008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3429000" y="3931920"/>
            <a:ext cx="2286000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429000" y="3931920"/>
            <a:ext cx="22860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FIELD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3429000" y="4085539"/>
            <a:ext cx="2286000" cy="120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 intensity at every location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62856" y="4206240"/>
            <a:ext cx="0" cy="64008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3429000" y="4270248"/>
            <a:ext cx="2286000" cy="274320"/>
          </a:xfrm>
          <a:prstGeom prst="rect">
            <a:avLst/>
          </a:prstGeom>
          <a:solidFill>
            <a:srgbClr val="E25822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429000" y="4270248"/>
            <a:ext cx="22860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CLASSIFICATION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3429000" y="4423867"/>
            <a:ext cx="2286000" cy="120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/ HIGH / MODERATE bands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562856" y="4544568"/>
            <a:ext cx="0" cy="64008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55" name="Shape 53"/>
          <p:cNvSpPr/>
          <p:nvPr/>
        </p:nvSpPr>
        <p:spPr>
          <a:xfrm>
            <a:off x="3429000" y="4608576"/>
            <a:ext cx="228600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29000" y="4608576"/>
            <a:ext cx="22860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DIRECTION ANALYSIS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3429000" y="4762195"/>
            <a:ext cx="2286000" cy="120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exposure ranking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562856" y="4882896"/>
            <a:ext cx="0" cy="64008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3429000" y="4946904"/>
            <a:ext cx="2286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429000" y="4946904"/>
            <a:ext cx="22860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DECISION SUPPORT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3429000" y="5100523"/>
            <a:ext cx="2286000" cy="120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Lower-exposure approach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Physics Behind the Map"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658368"/>
            <a:ext cx="0" cy="411480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694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THERMAL RADIATION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42416"/>
            <a:ext cx="39319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" y="1051560"/>
            <a:ext cx="385876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Source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1216152"/>
            <a:ext cx="3858768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F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 fire scenario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86000" y="1371600"/>
            <a:ext cx="0" cy="9144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47472" y="1463040"/>
            <a:ext cx="393192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" y="1472184"/>
            <a:ext cx="385876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 Characterization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" y="1636776"/>
            <a:ext cx="3858768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 geometry · effective emissive power (EEP)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0" y="1792224"/>
            <a:ext cx="0" cy="9144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47472" y="1883664"/>
            <a:ext cx="393192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" y="1892808"/>
            <a:ext cx="385876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View Factor (F)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" y="2057400"/>
            <a:ext cx="3858768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angle subtended at receiver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0" y="2212848"/>
            <a:ext cx="0" cy="9144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47472" y="2304288"/>
            <a:ext cx="393192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" y="2313432"/>
            <a:ext cx="385876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Radiative Transfer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" y="2478024"/>
            <a:ext cx="3858768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transmissivity (τ)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86000" y="2633472"/>
            <a:ext cx="0" cy="9144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47472" y="2724912"/>
            <a:ext cx="393192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" y="2734056"/>
            <a:ext cx="385876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 Point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" y="2898648"/>
            <a:ext cx="3858768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FC9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r from source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47472" y="3255264"/>
            <a:ext cx="393192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4048" y="327355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FLUX  q″  [kW/m²]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" y="343814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B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q″ = EEP × F × τ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" y="3712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thresholds (kW/m²):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7472" y="3913632"/>
            <a:ext cx="45720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9536" y="391363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37.5  EXTREME — Fatal exposure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7472" y="4096512"/>
            <a:ext cx="457200" cy="164592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9536" y="40965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12.5  HIGH — Significant injury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" y="4279392"/>
            <a:ext cx="457200" cy="1645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9536" y="4279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4.7  MODERATE — Pain threshold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7472" y="4462272"/>
            <a:ext cx="457200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9536" y="446227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4.7  LOW — Acceptable for egress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709160" y="694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BLAST OVERPRESSURE MODEL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36592" y="1042416"/>
            <a:ext cx="3931920" cy="32918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73168" y="1051560"/>
            <a:ext cx="385876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Explosion Source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773168" y="1216152"/>
            <a:ext cx="3858768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2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 explosion scenario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702552" y="1371600"/>
            <a:ext cx="0" cy="9144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4736592" y="1463040"/>
            <a:ext cx="3931920" cy="329184"/>
          </a:xfrm>
          <a:prstGeom prst="rect">
            <a:avLst/>
          </a:prstGeom>
          <a:solidFill>
            <a:srgbClr val="F4ECF7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73168" y="1472184"/>
            <a:ext cx="385876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2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Characterization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773168" y="1636776"/>
            <a:ext cx="3858768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TNT-equivalent mass (W_TNT) from heat of combustion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702552" y="1792224"/>
            <a:ext cx="0" cy="9144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4736592" y="1883664"/>
            <a:ext cx="3931920" cy="329184"/>
          </a:xfrm>
          <a:prstGeom prst="rect">
            <a:avLst/>
          </a:prstGeom>
          <a:solidFill>
            <a:srgbClr val="F4ECF7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773168" y="1892808"/>
            <a:ext cx="385876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2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Distance (Z)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4773168" y="2057400"/>
            <a:ext cx="3858768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R / W_TNT^(1/3)  — Hopkinson-Cranz scaling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702552" y="2212848"/>
            <a:ext cx="0" cy="9144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4736592" y="2304288"/>
            <a:ext cx="3931920" cy="329184"/>
          </a:xfrm>
          <a:prstGeom prst="rect">
            <a:avLst/>
          </a:prstGeom>
          <a:solidFill>
            <a:srgbClr val="F4ECF7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773168" y="2313432"/>
            <a:ext cx="385876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2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Baker-Strehlow Model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773168" y="2478024"/>
            <a:ext cx="3858768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overpressure vs. scaled distance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702552" y="2633472"/>
            <a:ext cx="0" cy="9144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4736592" y="2724912"/>
            <a:ext cx="393192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773168" y="2734056"/>
            <a:ext cx="385876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 Point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4773168" y="2898648"/>
            <a:ext cx="3858768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2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R from explosion centre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736592" y="3255264"/>
            <a:ext cx="3931920" cy="40233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773168" y="327355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OVERPRESSURE  ΔP  [kPa]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4773168" y="343814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R / W^(1/3)  →  ΔP = f(Z)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4736592" y="3712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thresholds (kPa):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36592" y="3913632"/>
            <a:ext cx="45720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248656" y="391363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83  EXTREME — Severe structural damage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736592" y="4096512"/>
            <a:ext cx="457200" cy="164592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248656" y="40965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21  HIGH — Serious injury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36592" y="4279392"/>
            <a:ext cx="457200" cy="1645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248656" y="4279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6.9  MODERATE — Threshold injury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736592" y="4462272"/>
            <a:ext cx="457200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248656" y="446227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6.9  LOW — Minor effects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different physical quantities.  Two independent consequence models.  One spatial decision layer.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Point Becomes a Consequence"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spatial evaluations → continuous hazard field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32918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140387"/>
            <a:ext cx="109728" cy="109728"/>
          </a:xfrm>
          <a:prstGeom prst="ellipse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1140387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8176" y="1140387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65376" y="1140387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22576" y="1140387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9776" y="1140387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6976" y="1140387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94176" y="1140387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51376" y="1140387"/>
            <a:ext cx="109728" cy="109728"/>
          </a:xfrm>
          <a:prstGeom prst="ellipse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161065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161065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08176" y="1610650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5376" y="1610650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22576" y="1610650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79776" y="1610650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36976" y="1610650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4176" y="161065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51376" y="161065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" y="2080913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" y="2080913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08176" y="2080913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5376" y="2080913"/>
            <a:ext cx="109728" cy="109728"/>
          </a:xfrm>
          <a:prstGeom prst="ellipse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22576" y="2080913"/>
            <a:ext cx="109728" cy="109728"/>
          </a:xfrm>
          <a:prstGeom prst="ellipse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79776" y="2080913"/>
            <a:ext cx="109728" cy="109728"/>
          </a:xfrm>
          <a:prstGeom prst="ellipse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6976" y="2080913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94176" y="2080913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51376" y="2080913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" y="2551176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2551176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08176" y="2551176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65376" y="2551176"/>
            <a:ext cx="109728" cy="109728"/>
          </a:xfrm>
          <a:prstGeom prst="ellipse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79776" y="2551176"/>
            <a:ext cx="109728" cy="109728"/>
          </a:xfrm>
          <a:prstGeom prst="ellipse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6976" y="2551176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94176" y="2551176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51376" y="2551176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" y="3021439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0976" y="3021439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08176" y="3021439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65376" y="3021439"/>
            <a:ext cx="109728" cy="109728"/>
          </a:xfrm>
          <a:prstGeom prst="ellipse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22576" y="3021439"/>
            <a:ext cx="109728" cy="109728"/>
          </a:xfrm>
          <a:prstGeom prst="ellipse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79776" y="3021439"/>
            <a:ext cx="109728" cy="109728"/>
          </a:xfrm>
          <a:prstGeom prst="ellipse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36976" y="3021439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94176" y="3021439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51376" y="3021439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3776" y="3491702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0976" y="3491702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08176" y="3491702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65376" y="3491702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22576" y="3491702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79776" y="3491702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36976" y="3491702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94176" y="3491702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51376" y="3491702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3776" y="3961965"/>
            <a:ext cx="109728" cy="109728"/>
          </a:xfrm>
          <a:prstGeom prst="ellipse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50976" y="3961965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408176" y="3961965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865376" y="3961965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22576" y="3961965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79776" y="3961965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36976" y="3961965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94176" y="3961965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51376" y="3961965"/>
            <a:ext cx="109728" cy="109728"/>
          </a:xfrm>
          <a:prstGeom prst="ellipse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21408" y="2404872"/>
            <a:ext cx="512064" cy="402336"/>
          </a:xfrm>
          <a:prstGeom prst="rect">
            <a:avLst>
              <a:gd name="adj" fmla="val 6818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121408" y="2404872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</a:t>
            </a:r>
            <a:endParaRPr lang="en-US" sz="700" dirty="0"/>
          </a:p>
        </p:txBody>
      </p:sp>
      <p:sp>
        <p:nvSpPr>
          <p:cNvPr id="70" name="Text 68"/>
          <p:cNvSpPr txBox="1"/>
          <p:nvPr/>
        </p:nvSpPr>
        <p:spPr>
          <a:xfrm>
            <a:off x="320040" y="43068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SPATIAL GRID  —  Each node = one consequence evaluation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526280" y="2606040"/>
            <a:ext cx="502920" cy="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72" name="Shape 70"/>
          <p:cNvSpPr/>
          <p:nvPr/>
        </p:nvSpPr>
        <p:spPr>
          <a:xfrm>
            <a:off x="4754880" y="960120"/>
            <a:ext cx="4069080" cy="3291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77740" y="1124712"/>
            <a:ext cx="3749040" cy="2962656"/>
          </a:xfrm>
          <a:prstGeom prst="ellipse">
            <a:avLst/>
          </a:prstGeom>
          <a:solidFill>
            <a:srgbClr val="D5F5E3">
              <a:alpha val="7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143500" y="1435608"/>
            <a:ext cx="3017520" cy="2340864"/>
          </a:xfrm>
          <a:prstGeom prst="ellipse">
            <a:avLst/>
          </a:prstGeom>
          <a:solidFill>
            <a:srgbClr val="FCF3CF">
              <a:alpha val="75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92140" y="1856232"/>
            <a:ext cx="1920240" cy="1499616"/>
          </a:xfrm>
          <a:prstGeom prst="ellipse">
            <a:avLst/>
          </a:prstGeom>
          <a:solidFill>
            <a:srgbClr val="FAD7A0">
              <a:alpha val="75000"/>
            </a:srgbClr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49340" y="2221992"/>
            <a:ext cx="1005840" cy="768096"/>
          </a:xfrm>
          <a:prstGeom prst="ellipse">
            <a:avLst/>
          </a:prstGeom>
          <a:solidFill>
            <a:srgbClr val="FADBD8">
              <a:alpha val="7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937760" y="1234440"/>
            <a:ext cx="822960" cy="0"/>
          </a:xfrm>
          <a:prstGeom prst="line">
            <a:avLst/>
          </a:prstGeom>
          <a:noFill/>
          <a:ln w="25400">
            <a:solidFill>
              <a:srgbClr val="1A3A6B"/>
            </a:solidFill>
            <a:prstDash val="solid"/>
            <a:tailEnd type="arrow"/>
          </a:ln>
        </p:spPr>
      </p:sp>
      <p:sp>
        <p:nvSpPr>
          <p:cNvPr id="78" name="Text 76"/>
          <p:cNvSpPr txBox="1"/>
          <p:nvPr/>
        </p:nvSpPr>
        <p:spPr>
          <a:xfrm>
            <a:off x="4892040" y="12893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→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396228" y="2404872"/>
            <a:ext cx="512064" cy="402336"/>
          </a:xfrm>
          <a:prstGeom prst="rect">
            <a:avLst>
              <a:gd name="adj" fmla="val 6818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396228" y="2404872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864608" y="3383280"/>
            <a:ext cx="164592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084064" y="33649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864608" y="3584448"/>
            <a:ext cx="164592" cy="146304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084064" y="35661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864608" y="3785616"/>
            <a:ext cx="164592" cy="1463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084064" y="37673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864608" y="3986784"/>
            <a:ext cx="164592" cy="1463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084064" y="39684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4754880" y="430682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HAZARD FIELD  —  Physics-derived contours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20040" y="4498848"/>
            <a:ext cx="173736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320040" y="4498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057400" y="4672584"/>
            <a:ext cx="109728" cy="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93" name="Shape 91"/>
          <p:cNvSpPr/>
          <p:nvPr/>
        </p:nvSpPr>
        <p:spPr>
          <a:xfrm>
            <a:off x="2167128" y="4498848"/>
            <a:ext cx="173736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2167128" y="4498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q″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3904488" y="4672584"/>
            <a:ext cx="109728" cy="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96" name="Shape 94"/>
          <p:cNvSpPr/>
          <p:nvPr/>
        </p:nvSpPr>
        <p:spPr>
          <a:xfrm>
            <a:off x="4014216" y="4498848"/>
            <a:ext cx="173736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4014216" y="4498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ΔP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751576" y="4672584"/>
            <a:ext cx="109728" cy="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99" name="Shape 97"/>
          <p:cNvSpPr/>
          <p:nvPr/>
        </p:nvSpPr>
        <p:spPr>
          <a:xfrm>
            <a:off x="5861304" y="4498848"/>
            <a:ext cx="173736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861304" y="4498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20040" y="4882896"/>
            <a:ext cx="8503920" cy="219456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11480" y="48828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do not draw a predefined circle. The geometry emerges from spatial consequence calculations."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Hazard Changes When the Scenario Changes"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13232"/>
            <a:ext cx="4114800" cy="19202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768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WIND-DEPENDENT SPATIAL BEHAVIOR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1097280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85800" y="1143000"/>
            <a:ext cx="1005840" cy="0"/>
          </a:xfrm>
          <a:prstGeom prst="line">
            <a:avLst/>
          </a:prstGeom>
          <a:noFill/>
          <a:ln w="22860">
            <a:solidFill>
              <a:srgbClr val="1A3A6B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14400" y="1170432"/>
            <a:ext cx="914400" cy="0"/>
          </a:xfrm>
          <a:prstGeom prst="line">
            <a:avLst/>
          </a:prstGeom>
          <a:noFill/>
          <a:ln w="26670">
            <a:solidFill>
              <a:srgbClr val="1A3A6B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43000" y="1197864"/>
            <a:ext cx="822960" cy="0"/>
          </a:xfrm>
          <a:prstGeom prst="line">
            <a:avLst/>
          </a:prstGeom>
          <a:noFill/>
          <a:ln w="30480">
            <a:solidFill>
              <a:srgbClr val="1A3A6B"/>
            </a:solidFill>
            <a:prstDash val="solid"/>
            <a:tailEnd type="arrow"/>
          </a:ln>
        </p:spPr>
      </p:sp>
      <p:sp>
        <p:nvSpPr>
          <p:cNvPr id="10" name="Text 8"/>
          <p:cNvSpPr txBox="1"/>
          <p:nvPr/>
        </p:nvSpPr>
        <p:spPr>
          <a:xfrm>
            <a:off x="457200" y="1298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1024128"/>
            <a:ext cx="502920" cy="402336"/>
          </a:xfrm>
          <a:prstGeom prst="rect">
            <a:avLst>
              <a:gd name="adj" fmla="val 6818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28800" y="102412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764792" y="950976"/>
            <a:ext cx="960120" cy="548640"/>
          </a:xfrm>
          <a:prstGeom prst="ellipse">
            <a:avLst/>
          </a:prstGeom>
          <a:solidFill>
            <a:srgbClr val="D5F5E3">
              <a:alpha val="65000"/>
            </a:srgbClr>
          </a:solidFill>
          <a:ln w="9525">
            <a:solidFill>
              <a:srgbClr val="27AE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64792" y="841248"/>
            <a:ext cx="1417320" cy="768096"/>
          </a:xfrm>
          <a:prstGeom prst="ellipse">
            <a:avLst/>
          </a:prstGeom>
          <a:solidFill>
            <a:srgbClr val="FAD7A0">
              <a:alpha val="65000"/>
            </a:srgbClr>
          </a:solidFill>
          <a:ln w="9525">
            <a:solidFill>
              <a:srgbClr val="E258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64792" y="722376"/>
            <a:ext cx="1874520" cy="1005840"/>
          </a:xfrm>
          <a:prstGeom prst="ellipse">
            <a:avLst/>
          </a:prstGeom>
          <a:solidFill>
            <a:srgbClr val="FADBD8">
              <a:alpha val="65000"/>
            </a:srgbClr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249424"/>
            <a:ext cx="39319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Upwind: reduced extent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Downwind: extended plume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09160" y="713232"/>
            <a:ext cx="4114800" cy="19202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768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MULTI-HAZARD SEVERITY BANDS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060704"/>
            <a:ext cx="393192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91456" y="1069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833872" y="1088136"/>
            <a:ext cx="28346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&gt; 37.5 kW/m²  ·  Blast &gt; 83 kPa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54880" y="1408176"/>
            <a:ext cx="3931920" cy="310896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91456" y="1417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833872" y="1435608"/>
            <a:ext cx="28346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&gt; 12.5 kW/m²  ·  Blast &gt; 21 kPa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54880" y="1755648"/>
            <a:ext cx="3931920" cy="31089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91456" y="1764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833872" y="1783080"/>
            <a:ext cx="28346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&gt; 4.7 kW/m²  ·  Blast &gt; 6.9 kPa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54880" y="2103120"/>
            <a:ext cx="3931920" cy="3108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91456" y="21122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33872" y="2130552"/>
            <a:ext cx="28346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≤ 4.7 kW/m²  ·  Blast ≤ 6.9 kPa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" y="2706624"/>
            <a:ext cx="850392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0040" y="276148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COMPARISON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072384"/>
            <a:ext cx="3977640" cy="171907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1480" y="31272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334670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tank · Low wind · Pool fire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527048" y="3615538"/>
            <a:ext cx="1426464" cy="998525"/>
          </a:xfrm>
          <a:prstGeom prst="ellipse">
            <a:avLst/>
          </a:prstGeom>
          <a:solidFill>
            <a:srgbClr val="D5F5E3">
              <a:alpha val="70000"/>
            </a:srgbClr>
          </a:solidFill>
          <a:ln w="6350">
            <a:solidFill>
              <a:srgbClr val="D5F5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37360" y="3762756"/>
            <a:ext cx="1005840" cy="704088"/>
          </a:xfrm>
          <a:prstGeom prst="ellipse">
            <a:avLst/>
          </a:prstGeom>
          <a:solidFill>
            <a:srgbClr val="FAD7A0">
              <a:alpha val="70000"/>
            </a:srgbClr>
          </a:solidFill>
          <a:ln w="6350">
            <a:solidFill>
              <a:srgbClr val="FAD7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47672" y="3909974"/>
            <a:ext cx="585216" cy="409651"/>
          </a:xfrm>
          <a:prstGeom prst="ellipse">
            <a:avLst/>
          </a:prstGeom>
          <a:solidFill>
            <a:srgbClr val="FADBD8">
              <a:alpha val="70000"/>
            </a:srgbClr>
          </a:solidFill>
          <a:ln w="6350">
            <a:solidFill>
              <a:srgbClr val="FADB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84832" y="3986784"/>
            <a:ext cx="310896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072384"/>
            <a:ext cx="3977640" cy="171907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37760" y="31272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B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937760" y="334670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tank · High wind · BLEVE explosion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0" y="3749040"/>
            <a:ext cx="868680" cy="585216"/>
          </a:xfrm>
          <a:prstGeom prst="ellipse">
            <a:avLst/>
          </a:prstGeom>
          <a:solidFill>
            <a:srgbClr val="D5F5E3">
              <a:alpha val="70000"/>
            </a:srgbClr>
          </a:solidFill>
          <a:ln w="6350">
            <a:solidFill>
              <a:srgbClr val="D5F5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3538728"/>
            <a:ext cx="1280160" cy="1005840"/>
          </a:xfrm>
          <a:prstGeom prst="ellipse">
            <a:avLst/>
          </a:prstGeom>
          <a:solidFill>
            <a:srgbClr val="FAD7A0">
              <a:alpha val="70000"/>
            </a:srgbClr>
          </a:solidFill>
          <a:ln w="6350">
            <a:solidFill>
              <a:srgbClr val="FAD7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3383280"/>
            <a:ext cx="1691640" cy="1316736"/>
          </a:xfrm>
          <a:prstGeom prst="ellipse">
            <a:avLst/>
          </a:prstGeom>
          <a:solidFill>
            <a:srgbClr val="FADBD8">
              <a:alpha val="70000"/>
            </a:srgbClr>
          </a:solidFill>
          <a:ln w="6350">
            <a:solidFill>
              <a:srgbClr val="FADB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65392" y="3913632"/>
            <a:ext cx="310896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83480" y="4041648"/>
            <a:ext cx="640080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4315968" y="3730752"/>
            <a:ext cx="512064" cy="512064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315968" y="3730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320040" y="482803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physical inputs  →  Different computed consequences  →  Different hazard geometry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Hazard Map to Approach Intelligence"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94760" y="2066544"/>
            <a:ext cx="1554480" cy="1170432"/>
          </a:xfrm>
          <a:prstGeom prst="ellipse">
            <a:avLst/>
          </a:prstGeom>
          <a:solidFill>
            <a:srgbClr val="D5F5E3">
              <a:alpha val="7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7560" y="1737360"/>
            <a:ext cx="2468880" cy="1828800"/>
          </a:xfrm>
          <a:prstGeom prst="ellipse">
            <a:avLst/>
          </a:prstGeom>
          <a:solidFill>
            <a:srgbClr val="FAD7A0">
              <a:alpha val="70000"/>
            </a:srgbClr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1417320"/>
            <a:ext cx="3291840" cy="2468880"/>
          </a:xfrm>
          <a:prstGeom prst="ellipse">
            <a:avLst/>
          </a:prstGeom>
          <a:solidFill>
            <a:srgbClr val="FADBD8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15968" y="2450592"/>
            <a:ext cx="512064" cy="402336"/>
          </a:xfrm>
          <a:prstGeom prst="rect">
            <a:avLst>
              <a:gd name="adj" fmla="val 6818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15968" y="2450592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0" y="2423160"/>
            <a:ext cx="0" cy="-1527048"/>
          </a:xfrm>
          <a:prstGeom prst="line">
            <a:avLst/>
          </a:prstGeom>
          <a:noFill/>
          <a:ln w="12700">
            <a:solidFill>
              <a:srgbClr val="E2582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078224" y="640080"/>
            <a:ext cx="987552" cy="2743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78224" y="6400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 HIGH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78874" y="2490140"/>
            <a:ext cx="1079623" cy="-1079623"/>
          </a:xfrm>
          <a:prstGeom prst="line">
            <a:avLst/>
          </a:prstGeom>
          <a:noFill/>
          <a:ln w="12700">
            <a:solidFill>
              <a:srgbClr val="E2582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403510" y="1189314"/>
            <a:ext cx="987552" cy="2743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03510" y="118931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 HIGH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64608" y="2651760"/>
            <a:ext cx="1527048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952744" y="2514600"/>
            <a:ext cx="987552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52744" y="251460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 EXTREME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778874" y="2813380"/>
            <a:ext cx="1079623" cy="1079623"/>
          </a:xfrm>
          <a:prstGeom prst="line">
            <a:avLst/>
          </a:prstGeom>
          <a:noFill/>
          <a:ln w="12700">
            <a:solidFill>
              <a:srgbClr val="E2582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03510" y="3839886"/>
            <a:ext cx="987552" cy="27432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03510" y="383988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 HIGH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0" y="2880360"/>
            <a:ext cx="0" cy="1527048"/>
          </a:xfrm>
          <a:prstGeom prst="line">
            <a:avLst/>
          </a:prstGeom>
          <a:noFill/>
          <a:ln w="12700">
            <a:solidFill>
              <a:srgbClr val="F39C1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078224" y="4389120"/>
            <a:ext cx="987552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78224" y="43891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 MODERATE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365126" y="2813380"/>
            <a:ext cx="-1079623" cy="1079623"/>
          </a:xfrm>
          <a:prstGeom prst="line">
            <a:avLst/>
          </a:prstGeom>
          <a:noFill/>
          <a:ln w="31750">
            <a:solidFill>
              <a:srgbClr val="27AE6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752938" y="3839886"/>
            <a:ext cx="987552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52938" y="383988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 LOW ★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279392" y="2651760"/>
            <a:ext cx="-1527048" cy="0"/>
          </a:xfrm>
          <a:prstGeom prst="line">
            <a:avLst/>
          </a:prstGeom>
          <a:noFill/>
          <a:ln w="12700">
            <a:solidFill>
              <a:srgbClr val="27AE6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203704" y="2514600"/>
            <a:ext cx="987552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03704" y="251460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 LOW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365126" y="2490140"/>
            <a:ext cx="-1079623" cy="-1079623"/>
          </a:xfrm>
          <a:prstGeom prst="line">
            <a:avLst/>
          </a:prstGeom>
          <a:noFill/>
          <a:ln w="12700">
            <a:solidFill>
              <a:srgbClr val="F39C1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752938" y="1189314"/>
            <a:ext cx="987552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52938" y="118931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  MODERATE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0" y="914400"/>
            <a:ext cx="731520" cy="0"/>
          </a:xfrm>
          <a:prstGeom prst="line">
            <a:avLst/>
          </a:prstGeom>
          <a:noFill/>
          <a:ln w="25400">
            <a:solidFill>
              <a:srgbClr val="1A3A6B"/>
            </a:solidFill>
            <a:prstDash val="solid"/>
            <a:tailEnd type="arrow"/>
          </a:ln>
        </p:spPr>
      </p:sp>
      <p:sp>
        <p:nvSpPr>
          <p:cNvPr id="34" name="Text 32"/>
          <p:cNvSpPr txBox="1"/>
          <p:nvPr/>
        </p:nvSpPr>
        <p:spPr>
          <a:xfrm>
            <a:off x="2606040" y="7498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→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580376" y="749808"/>
            <a:ext cx="1417320" cy="694944"/>
          </a:xfrm>
          <a:prstGeom prst="rect">
            <a:avLst/>
          </a:prstGeom>
          <a:solidFill>
            <a:srgbClr val="1A3A6B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80376" y="749808"/>
            <a:ext cx="141732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289036" y="1444752"/>
            <a:ext cx="0" cy="173736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7580376" y="1618488"/>
            <a:ext cx="1417320" cy="694944"/>
          </a:xfrm>
          <a:prstGeom prst="rect">
            <a:avLst/>
          </a:prstGeom>
          <a:solidFill>
            <a:srgbClr val="34495E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0376" y="1618488"/>
            <a:ext cx="141732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89036" y="2313432"/>
            <a:ext cx="0" cy="173736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7580376" y="2487168"/>
            <a:ext cx="1417320" cy="694944"/>
          </a:xfrm>
          <a:prstGeom prst="rect">
            <a:avLst/>
          </a:prstGeom>
          <a:solidFill>
            <a:srgbClr val="E25822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80376" y="2487168"/>
            <a:ext cx="141732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289036" y="3182112"/>
            <a:ext cx="0" cy="173736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7580376" y="3355848"/>
            <a:ext cx="1417320" cy="694944"/>
          </a:xfrm>
          <a:prstGeom prst="rect">
            <a:avLst/>
          </a:prstGeom>
          <a:solidFill>
            <a:srgbClr val="27AE60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580376" y="3355848"/>
            <a:ext cx="141732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LOWER-EXPOSURE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16368" y="3319272"/>
            <a:ext cx="1554480" cy="768096"/>
          </a:xfrm>
          <a:prstGeom prst="rect">
            <a:avLst/>
          </a:prstGeom>
          <a:solidFill>
            <a:srgbClr val="27AE60">
              <a:alpha val="15000"/>
            </a:srgbClr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286000" y="43708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LOWER MODELED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 (SW)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4754880"/>
            <a:ext cx="4572000" cy="292608"/>
          </a:xfrm>
          <a:prstGeom prst="rect">
            <a:avLst/>
          </a:prstGeom>
          <a:solidFill>
            <a:srgbClr val="FDFEFE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11480" y="47731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If all directions exceed defined criteria → NO SAFE APPROACH IDENTIFIED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0" y="4828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Screening-level decision support — not a certified safety boundary.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FIREGUARD?"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68096"/>
            <a:ext cx="2670048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68096"/>
            <a:ext cx="2670048" cy="914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9768" y="9144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91440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PHYSICS-BASED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9768" y="1353312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consequence models rather than arbitrary fixed circles.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99816" y="768096"/>
            <a:ext cx="2670048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9816" y="768096"/>
            <a:ext cx="2670048" cy="914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9544" y="9144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776472" y="91440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SPATIALLY EXPLICIT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209544" y="1353312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consequences across the full surrounding area.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879592" y="768096"/>
            <a:ext cx="2670048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79592" y="768096"/>
            <a:ext cx="2670048" cy="914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89320" y="9144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556248" y="91440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WIND-AWARE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1353312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Represents wind influence on hazard geometry.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249424"/>
            <a:ext cx="2670048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249424"/>
            <a:ext cx="267004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" y="23957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96696" y="23957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MULTI-HAZARD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" y="2834640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radiation + blast overpressure — two independent models.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99816" y="2249424"/>
            <a:ext cx="2670048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99816" y="2249424"/>
            <a:ext cx="2670048" cy="91440"/>
          </a:xfrm>
          <a:prstGeom prst="rect">
            <a:avLst/>
          </a:prstGeom>
          <a:solidFill>
            <a:srgbClr val="E25822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09544" y="23957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3776472" y="23957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DECISION-ORIENTED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209544" y="2834640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hazard calculations into approach-direction intelligence.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79592" y="2249424"/>
            <a:ext cx="2670048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79592" y="2249424"/>
            <a:ext cx="2670048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89320" y="23957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6556248" y="23957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834640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→ Models → Spatial field → Severity → Decision.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730752"/>
            <a:ext cx="1920240" cy="38404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0040" y="37307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40280" y="3922776"/>
            <a:ext cx="73152" cy="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2313432" y="3730752"/>
            <a:ext cx="192024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13432" y="37307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33672" y="3922776"/>
            <a:ext cx="73152" cy="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4306824" y="3730752"/>
            <a:ext cx="19202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306824" y="37307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FIELD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27064" y="3922776"/>
            <a:ext cx="73152" cy="0"/>
          </a:xfrm>
          <a:prstGeom prst="line">
            <a:avLst/>
          </a:prstGeom>
          <a:noFill/>
          <a:ln w="19050">
            <a:solidFill>
              <a:srgbClr val="0D1F3C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6300216" y="3730752"/>
            <a:ext cx="192024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00216" y="37307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INTELLIGENCE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320040" y="427939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"DON'T DRAW THE DANGER.</a:t>
            </a:r>
            <a:endParaRPr lang="en-US" sz="2800" dirty="0"/>
          </a:p>
        </p:txBody>
      </p:sp>
      <p:sp>
        <p:nvSpPr>
          <p:cNvPr id="46" name="Text 44"/>
          <p:cNvSpPr txBox="1"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IT."</a:t>
            </a:r>
            <a:endParaRPr lang="en-US" sz="2200" dirty="0"/>
          </a:p>
        </p:txBody>
      </p:sp>
      <p:sp>
        <p:nvSpPr>
          <p:cNvPr id="47" name="Text 45"/>
          <p:cNvSpPr txBox="1"/>
          <p:nvPr/>
        </p:nvSpPr>
        <p:spPr>
          <a:xfrm>
            <a:off x="320040" y="4974336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FIREGUARD  ·  TEAM ATOM  ·  HACKTRONICS 2ND EDITION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2026-09-01T09:02:24Z</dcterms:created>
  <dcterms:modified xsi:type="dcterms:W3CDTF">2026-09-01T09:02:24Z</dcterms:modified>
</cp:coreProperties>
</file>